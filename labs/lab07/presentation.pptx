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8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DBFB7B4E-857F-7BBA-8EDB-9D793A9E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6FA61321-11A1-BD2C-9C7F-E8D8DE350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2BF57EA5-44A5-3E40-14BF-8C5CCD917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2279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Элементы криптографии. Однократное гаммирование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Освоить на практике применение режима однократного гаммирования</a:t>
            </a:r>
          </a:p>
          <a:p>
            <a:pPr latinLnBrk="1"/>
            <a:r>
              <a:rPr lang="ru-RU" dirty="0"/>
              <a:t>Реализовать шифрование и дешифрование данных с использованием операции XOR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Код программы (xor_cipher.py)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Разработка приложения на Python для однократного гаммирования: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DC7F90-E628-DE68-5B7D-EE7C134ED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48654"/>
            <a:ext cx="4858062" cy="37442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Проверка работы программы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Запуск программы с примером «Штирлиц - Вы Герой!!»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73096A-ACEB-9F2B-FD57-8B079728D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42262"/>
            <a:ext cx="7856040" cy="21295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Нахождение ключа по открытому тексту и </a:t>
            </a:r>
            <a:r>
              <a:rPr lang="ru-RU" dirty="0" err="1"/>
              <a:t>шифротексту</a:t>
            </a:r>
            <a:endParaRPr lang="ru-RU"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Определение ключа, которым был зашифрован текст «Штирлиц - Вы Болван!»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4DD350-F946-2128-43AB-C87B291C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061260"/>
            <a:ext cx="7755739" cy="2275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HEX-</a:t>
            </a:r>
            <a:r>
              <a:rPr lang="ru-RU" dirty="0"/>
              <a:t>представление целевого сообщения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Получение шестнадцатеричного представления сообщения «С Новым Годом, друзья!»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3ED99A-D80C-FE25-3082-1FC1C57F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38368"/>
            <a:ext cx="10139805" cy="1208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Демонстрация подбора ключа для произвольного </a:t>
            </a:r>
            <a:r>
              <a:rPr lang="ru-RU" dirty="0" err="1"/>
              <a:t>шифротекста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875231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Показано, что для любого </a:t>
            </a:r>
            <a:r>
              <a:rPr lang="ru-RU" dirty="0" err="1"/>
              <a:t>шифротекста</a:t>
            </a:r>
            <a:r>
              <a:rPr lang="ru-RU" dirty="0"/>
              <a:t> можно подобрать ключ, дающий нужное сообщение (абсолютная стойкость шифра)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DAE271-2996-777B-898A-BDBD239EF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00" y="3201925"/>
            <a:ext cx="6145756" cy="325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8DFC2C68-D007-66B0-97CD-61728867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675E1E59-C729-03A9-0360-9B84CA94B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Контрольные вопросы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DAC53C92-194F-097B-0D6A-690368788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875230"/>
            <a:ext cx="10632600" cy="529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ru-RU" sz="1050" dirty="0"/>
              <a:t>1. Поясните смысл однократного гаммирования</a:t>
            </a:r>
          </a:p>
          <a:p>
            <a:pPr marL="114300" indent="0">
              <a:buNone/>
            </a:pPr>
            <a:r>
              <a:rPr lang="ru-RU" sz="1050" dirty="0"/>
              <a:t>Однократное гаммирование — это метод шифрования, при котором на открытый текст накладывается (с помощью операции XOR) ключ (гамма) такой же длины. Ключ используется только один раз. Расшифрование выполняется той же операцией XOR.</a:t>
            </a:r>
          </a:p>
          <a:p>
            <a:pPr marL="114300" indent="0">
              <a:buNone/>
            </a:pPr>
            <a:r>
              <a:rPr lang="ru-RU" sz="1050" dirty="0"/>
              <a:t>2. Перечислите недостатки однократного </a:t>
            </a:r>
            <a:r>
              <a:rPr lang="ru-RU" sz="1050" dirty="0" err="1"/>
              <a:t>гаммированияНеобходимость</a:t>
            </a:r>
            <a:r>
              <a:rPr lang="ru-RU" sz="1050" dirty="0"/>
              <a:t> передачи ключа длиной, равной длине сообщения, защищённым </a:t>
            </a:r>
            <a:r>
              <a:rPr lang="ru-RU" sz="1050" dirty="0" err="1"/>
              <a:t>каналомКлюч</a:t>
            </a:r>
            <a:r>
              <a:rPr lang="ru-RU" sz="1050" dirty="0"/>
              <a:t> нельзя использовать </a:t>
            </a:r>
            <a:r>
              <a:rPr lang="ru-RU" sz="1050" dirty="0" err="1"/>
              <a:t>повторноПроблема</a:t>
            </a:r>
            <a:r>
              <a:rPr lang="ru-RU" sz="1050" dirty="0"/>
              <a:t> синхронизации ключа между отправителем и </a:t>
            </a:r>
            <a:r>
              <a:rPr lang="ru-RU" sz="1050" dirty="0" err="1"/>
              <a:t>получателемТребуется</a:t>
            </a:r>
            <a:r>
              <a:rPr lang="ru-RU" sz="1050" dirty="0"/>
              <a:t> генерация истинно случайных ключей</a:t>
            </a:r>
          </a:p>
          <a:p>
            <a:pPr marL="114300" indent="0">
              <a:buNone/>
            </a:pPr>
            <a:r>
              <a:rPr lang="ru-RU" sz="1050" dirty="0"/>
              <a:t>3. Перечислите преимущества однократного </a:t>
            </a:r>
            <a:r>
              <a:rPr lang="ru-RU" sz="1050" dirty="0" err="1"/>
              <a:t>гаммированияАбсолютная</a:t>
            </a:r>
            <a:r>
              <a:rPr lang="ru-RU" sz="1050" dirty="0"/>
              <a:t> криптостойкость (доказано К. Шенноном)Простота реализации (операция XOR)Скорость шифрования/</a:t>
            </a:r>
            <a:r>
              <a:rPr lang="ru-RU" sz="1050" dirty="0" err="1"/>
              <a:t>расшифрованияОтсутствие</a:t>
            </a:r>
            <a:r>
              <a:rPr lang="ru-RU" sz="1050" dirty="0"/>
              <a:t> накопления ошибок</a:t>
            </a:r>
          </a:p>
          <a:p>
            <a:pPr marL="114300" indent="0">
              <a:buNone/>
            </a:pPr>
            <a:r>
              <a:rPr lang="ru-RU" sz="1050" dirty="0"/>
              <a:t>4. Почему длина открытого текста должна совпадать с длиной </a:t>
            </a:r>
            <a:r>
              <a:rPr lang="ru-RU" sz="1050" dirty="0" err="1"/>
              <a:t>ключа?Потому</a:t>
            </a:r>
            <a:r>
              <a:rPr lang="ru-RU" sz="1050" dirty="0"/>
              <a:t> что операция XOR выполняется попарно над каждым битом (или байтом) открытого текста и ключа. Если ключ короче, его пришлось бы повторять, что нарушает условие однократности и снижает стойкость.</a:t>
            </a:r>
          </a:p>
          <a:p>
            <a:pPr marL="114300" indent="0">
              <a:buNone/>
            </a:pPr>
            <a:r>
              <a:rPr lang="ru-RU" sz="1050" dirty="0"/>
              <a:t>5. Какая операция используется в режиме однократного гаммирования, назовите её </a:t>
            </a:r>
            <a:r>
              <a:rPr lang="ru-RU" sz="1050" dirty="0" err="1"/>
              <a:t>особенности?Используется</a:t>
            </a:r>
            <a:r>
              <a:rPr lang="ru-RU" sz="1050" dirty="0"/>
              <a:t> операция XOR (сложение по модулю 2). Её особенности:</a:t>
            </a:r>
          </a:p>
          <a:p>
            <a:pPr marL="114300" indent="0">
              <a:buNone/>
            </a:pPr>
            <a:r>
              <a:rPr lang="ru-RU" sz="1050" dirty="0"/>
              <a:t>0 ⊕ 0 = 0, 0 ⊕ 1 = 1, 1 ⊕ 0 = 1, 1 ⊕ 1 = 0</a:t>
            </a:r>
          </a:p>
          <a:p>
            <a:pPr marL="114300" indent="0">
              <a:buNone/>
            </a:pPr>
            <a:r>
              <a:rPr lang="ru-RU" sz="1050" dirty="0"/>
              <a:t>Операция обратима: (A ⊕ B) ⊕ B = A</a:t>
            </a:r>
            <a:r>
              <a:rPr lang="en-US" sz="1050" dirty="0"/>
              <a:t> </a:t>
            </a:r>
            <a:r>
              <a:rPr lang="ru-RU" sz="1050" dirty="0"/>
              <a:t>Коммутативна и ассоциативна</a:t>
            </a:r>
          </a:p>
          <a:p>
            <a:pPr marL="114300" indent="0">
              <a:buNone/>
            </a:pPr>
            <a:r>
              <a:rPr lang="ru-RU" sz="1050" dirty="0"/>
              <a:t>6. Как по открытому тексту и ключу получить </a:t>
            </a:r>
            <a:r>
              <a:rPr lang="ru-RU" sz="1050" dirty="0" err="1"/>
              <a:t>шифротекст?Шифротекст</a:t>
            </a:r>
            <a:r>
              <a:rPr lang="ru-RU" sz="1050" dirty="0"/>
              <a:t> получается побитовым (или побайтовым) XOR открытого текста и ключа:</a:t>
            </a:r>
          </a:p>
          <a:p>
            <a:pPr marL="114300" indent="0">
              <a:buNone/>
            </a:pPr>
            <a:r>
              <a:rPr lang="ru-RU" sz="1050" dirty="0" err="1"/>
              <a:t>C_i</a:t>
            </a:r>
            <a:r>
              <a:rPr lang="ru-RU" sz="1050" dirty="0"/>
              <a:t> = </a:t>
            </a:r>
            <a:r>
              <a:rPr lang="ru-RU" sz="1050" dirty="0" err="1"/>
              <a:t>P_i</a:t>
            </a:r>
            <a:r>
              <a:rPr lang="ru-RU" sz="1050" dirty="0"/>
              <a:t> ⊕ </a:t>
            </a:r>
            <a:r>
              <a:rPr lang="ru-RU" sz="1050" dirty="0" err="1"/>
              <a:t>K_i</a:t>
            </a:r>
            <a:endParaRPr lang="en-US" sz="1050" dirty="0"/>
          </a:p>
          <a:p>
            <a:pPr marL="114300" indent="0">
              <a:buNone/>
            </a:pPr>
            <a:r>
              <a:rPr lang="ru-RU" sz="1050" dirty="0"/>
              <a:t>7. Как по открытому тексту и </a:t>
            </a:r>
            <a:r>
              <a:rPr lang="ru-RU" sz="1050" dirty="0" err="1"/>
              <a:t>шифротексту</a:t>
            </a:r>
            <a:r>
              <a:rPr lang="ru-RU" sz="1050" dirty="0"/>
              <a:t> получить </a:t>
            </a:r>
            <a:r>
              <a:rPr lang="ru-RU" sz="1050" dirty="0" err="1"/>
              <a:t>ключ?Ключ</a:t>
            </a:r>
            <a:r>
              <a:rPr lang="ru-RU" sz="1050" dirty="0"/>
              <a:t> получается XOR </a:t>
            </a:r>
            <a:r>
              <a:rPr lang="ru-RU" sz="1050" dirty="0" err="1"/>
              <a:t>шифротекста</a:t>
            </a:r>
            <a:r>
              <a:rPr lang="ru-RU" sz="1050" dirty="0"/>
              <a:t> и открытого текста</a:t>
            </a:r>
          </a:p>
          <a:p>
            <a:pPr marL="114300" indent="0">
              <a:buNone/>
            </a:pPr>
            <a:r>
              <a:rPr lang="ru-RU" sz="1050" dirty="0" err="1"/>
              <a:t>K_i</a:t>
            </a:r>
            <a:r>
              <a:rPr lang="ru-RU" sz="1050" dirty="0"/>
              <a:t> = </a:t>
            </a:r>
            <a:r>
              <a:rPr lang="ru-RU" sz="1050" dirty="0" err="1"/>
              <a:t>C_i</a:t>
            </a:r>
            <a:r>
              <a:rPr lang="ru-RU" sz="1050" dirty="0"/>
              <a:t> ⊕ </a:t>
            </a:r>
            <a:r>
              <a:rPr lang="ru-RU" sz="1050" dirty="0" err="1"/>
              <a:t>P_i</a:t>
            </a:r>
            <a:endParaRPr lang="en-US" sz="1050" dirty="0"/>
          </a:p>
          <a:p>
            <a:pPr marL="114300" indent="0">
              <a:buNone/>
            </a:pPr>
            <a:r>
              <a:rPr lang="ru-RU" sz="1050" dirty="0"/>
              <a:t>8. В чем заключаются необходимые и достаточные условия абсолютной стойкости </a:t>
            </a:r>
            <a:r>
              <a:rPr lang="ru-RU" sz="1050" dirty="0" err="1"/>
              <a:t>шифра?Полная</a:t>
            </a:r>
            <a:r>
              <a:rPr lang="ru-RU" sz="1050" dirty="0"/>
              <a:t> случайность </a:t>
            </a:r>
            <a:r>
              <a:rPr lang="ru-RU" sz="1050" dirty="0" err="1"/>
              <a:t>ключаРавенство</a:t>
            </a:r>
            <a:r>
              <a:rPr lang="ru-RU" sz="1050" dirty="0"/>
              <a:t> длин ключа и открытого </a:t>
            </a:r>
            <a:r>
              <a:rPr lang="ru-RU" sz="1050" dirty="0" err="1"/>
              <a:t>текстаОднократное</a:t>
            </a:r>
            <a:r>
              <a:rPr lang="ru-RU" sz="1050" dirty="0"/>
              <a:t> использование ключа</a:t>
            </a:r>
          </a:p>
        </p:txBody>
      </p:sp>
    </p:spTree>
    <p:extLst>
      <p:ext uri="{BB962C8B-B14F-4D97-AF65-F5344CB8AC3E}">
        <p14:creationId xmlns:p14="http://schemas.microsoft.com/office/powerpoint/2010/main" val="3863906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лабораторной работы было разработано приложение на Python, реализующее однократное гаммирование (шифрование/дешифрование XOR).</a:t>
            </a:r>
          </a:p>
          <a:p>
            <a:r>
              <a:rPr lang="ru-RU" dirty="0"/>
              <a:t>Проверена работа программы на примере из методички («Штирлиц - Вы Герой!!» и «Штирлиц - Вы Болван!»).</a:t>
            </a:r>
          </a:p>
          <a:p>
            <a:r>
              <a:rPr lang="ru-RU" dirty="0"/>
              <a:t>Получены практические навыки работы с HEX-представлением текста и операцией XOR.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509</Words>
  <Application>Microsoft Office PowerPoint</Application>
  <PresentationFormat>Широкоэкранный</PresentationFormat>
  <Paragraphs>42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Элементы криптографии. Однократное гаммирование</vt:lpstr>
      <vt:lpstr>Цель работы</vt:lpstr>
      <vt:lpstr>Техническое обеспечение</vt:lpstr>
      <vt:lpstr>Код программы (xor_cipher.py)</vt:lpstr>
      <vt:lpstr>Проверка работы программы</vt:lpstr>
      <vt:lpstr>Нахождение ключа по открытому тексту и шифротексту</vt:lpstr>
      <vt:lpstr>HEX-представление целевого сообщения</vt:lpstr>
      <vt:lpstr>Демонстрация подбора ключа для произвольного шифротекста</vt:lpstr>
      <vt:lpstr>Контрольные вопросы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15</cp:revision>
  <dcterms:modified xsi:type="dcterms:W3CDTF">2026-05-14T17:02:30Z</dcterms:modified>
</cp:coreProperties>
</file>