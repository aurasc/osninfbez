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7" r:id="rId10"/>
    <p:sldId id="266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d6fc6966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4d6fc6966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4d6fc6966d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4d6fc6966d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d6fc6966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34d6fc6966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0A2FD039-38CC-87AC-9DA9-6E562DC95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d6fc6966d_0_25:notes">
            <a:extLst>
              <a:ext uri="{FF2B5EF4-FFF2-40B4-BE49-F238E27FC236}">
                <a16:creationId xmlns:a16="http://schemas.microsoft.com/office/drawing/2014/main" id="{ED75F14F-800C-7E2A-565B-5DB86593F6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34d6fc6966d_0_25:notes">
            <a:extLst>
              <a:ext uri="{FF2B5EF4-FFF2-40B4-BE49-F238E27FC236}">
                <a16:creationId xmlns:a16="http://schemas.microsoft.com/office/drawing/2014/main" id="{4F2460A6-CF68-C8FD-AB52-E996D3B54D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440105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3999" y="2162286"/>
            <a:ext cx="753379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l">
              <a:lnSpc>
                <a:spcPct val="100000"/>
              </a:lnSpc>
              <a:buSzPts val="2000"/>
            </a:pPr>
            <a:r>
              <a:rPr lang="ru-RU" sz="2000" dirty="0"/>
              <a:t>Дискреционное разграничение прав в Linux.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2621095" y="5601469"/>
            <a:ext cx="64366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Российский университет дружбы народов, Москва, Россия</a:t>
            </a:r>
            <a:r>
              <a:rPr lang="ru-RU" sz="1800" b="0" i="0" u="none" strike="noStrike" cap="none" dirty="0"/>
              <a:t> </a:t>
            </a:r>
            <a:endParaRPr sz="48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8210550" y="3926285"/>
            <a:ext cx="354523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Работу выполнил: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Смольняков Данил Евгеньевич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НБИбд-02-24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Цель работы</a:t>
            </a:r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ru-RU" dirty="0"/>
              <a:t>Получение практических навыков работы в консоли с атрибутами файлов для групп пользователей.</a:t>
            </a:r>
          </a:p>
          <a:p>
            <a:r>
              <a:rPr lang="ru-RU" dirty="0"/>
              <a:t>Изучение механизмов дискреционного разграничения доступа при работе нескольких пользователей в ОС Linux..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/>
              <a:t>Техническое обеспечение</a:t>
            </a:r>
            <a:endParaRPr dirty="0"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Intel Core i3-550 3.2 GHz,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4 GB </a:t>
            </a:r>
            <a:r>
              <a:rPr lang="ru-RU" dirty="0"/>
              <a:t>оперативной памяти,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20 </a:t>
            </a:r>
            <a:r>
              <a:rPr lang="en-US" dirty="0"/>
              <a:t>GB </a:t>
            </a:r>
            <a:r>
              <a:rPr lang="ru-RU" dirty="0"/>
              <a:t>свободного места на жёстком диске;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ОС </a:t>
            </a:r>
            <a:r>
              <a:rPr lang="en-US" dirty="0"/>
              <a:t>Linux Gentoo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VirtualBox </a:t>
            </a:r>
            <a:r>
              <a:rPr lang="ru-RU" dirty="0" err="1"/>
              <a:t>верс</a:t>
            </a:r>
            <a:r>
              <a:rPr lang="ru-RU" dirty="0"/>
              <a:t>. 6.1 или старше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Создание пользователей и настройка групп</a:t>
            </a:r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ru-RU" dirty="0"/>
              <a:t>В терминале от имени администратора были выполнены следующие команды:</a:t>
            </a:r>
            <a:br>
              <a:rPr lang="ru-RU" dirty="0"/>
            </a:br>
            <a:r>
              <a:rPr lang="ru-RU" dirty="0"/>
              <a:t>строка "guest:x:1001:guest2" подтверждает, что пользователь guest2 успешно добавлен в группу </a:t>
            </a:r>
            <a:r>
              <a:rPr lang="ru-RU" dirty="0" err="1"/>
              <a:t>guest</a:t>
            </a:r>
            <a:r>
              <a:rPr lang="ru-RU" dirty="0"/>
              <a:t>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034840F-BDB2-E064-418E-4F87EA478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38356"/>
            <a:ext cx="4372585" cy="29626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Вход в систему и определение информации о пользователях</a:t>
            </a:r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ru-RU" dirty="0"/>
              <a:t>Команда </a:t>
            </a:r>
            <a:r>
              <a:rPr lang="ru-RU" dirty="0" err="1"/>
              <a:t>groups</a:t>
            </a:r>
            <a:r>
              <a:rPr lang="ru-RU" dirty="0"/>
              <a:t> </a:t>
            </a:r>
            <a:r>
              <a:rPr lang="ru-RU" dirty="0" err="1"/>
              <a:t>guest</a:t>
            </a:r>
            <a:r>
              <a:rPr lang="ru-RU" dirty="0"/>
              <a:t> показала, что пользователь </a:t>
            </a:r>
            <a:r>
              <a:rPr lang="ru-RU" dirty="0" err="1"/>
              <a:t>guest</a:t>
            </a:r>
            <a:r>
              <a:rPr lang="ru-RU" dirty="0"/>
              <a:t> входит в группу </a:t>
            </a:r>
            <a:r>
              <a:rPr lang="ru-RU" dirty="0" err="1"/>
              <a:t>guest</a:t>
            </a:r>
            <a:r>
              <a:rPr lang="ru-RU" dirty="0"/>
              <a:t>. Команда </a:t>
            </a:r>
            <a:r>
              <a:rPr lang="ru-RU" dirty="0" err="1"/>
              <a:t>groups</a:t>
            </a:r>
            <a:r>
              <a:rPr lang="ru-RU" dirty="0"/>
              <a:t> guest2 показала, что пользователь guest2 входит в группу guest2.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65C931A-C130-52B7-2E58-E708DB283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406369"/>
            <a:ext cx="6375405" cy="30865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Просмотр файла /</a:t>
            </a:r>
            <a:r>
              <a:rPr lang="ru-RU" dirty="0" err="1"/>
              <a:t>etc</a:t>
            </a:r>
            <a:r>
              <a:rPr lang="ru-RU" dirty="0"/>
              <a:t>/</a:t>
            </a:r>
            <a:r>
              <a:rPr lang="ru-RU" dirty="0" err="1"/>
              <a:t>group</a:t>
            </a:r>
            <a:r>
              <a:rPr lang="ru-RU" dirty="0"/>
              <a:t> и регистрация в группе</a:t>
            </a:r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ru-RU" dirty="0"/>
              <a:t>Таким образом при выполнении команд, основной группой guest2 стала группа </a:t>
            </a:r>
            <a:r>
              <a:rPr lang="ru-RU" dirty="0" err="1"/>
              <a:t>guest</a:t>
            </a:r>
            <a:r>
              <a:rPr lang="ru-RU" dirty="0"/>
              <a:t>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55170F3-7411-3014-82EC-F5EBD6AFE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048850"/>
            <a:ext cx="6648005" cy="13708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Создание директории dir1 и файла file1</a:t>
            </a:r>
          </a:p>
        </p:txBody>
      </p:sp>
      <p:sp>
        <p:nvSpPr>
          <p:cNvPr id="131" name="Google Shape;13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ru-RU" dirty="0"/>
              <a:t>От имени пользователя </a:t>
            </a:r>
            <a:r>
              <a:rPr lang="ru-RU" dirty="0" err="1"/>
              <a:t>guest</a:t>
            </a:r>
            <a:r>
              <a:rPr lang="ru-RU" dirty="0"/>
              <a:t> создана директория dir1 и создан файл file1 с содержимым "</a:t>
            </a:r>
            <a:r>
              <a:rPr lang="ru-RU" dirty="0" err="1"/>
              <a:t>test</a:t>
            </a:r>
            <a:r>
              <a:rPr lang="ru-RU" dirty="0"/>
              <a:t>".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2C4432D-8DB6-7D3F-CFED-D7C63F969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69907"/>
            <a:ext cx="9697803" cy="21338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Заполнение таблицы 3.1</a:t>
            </a:r>
          </a:p>
        </p:txBody>
      </p:sp>
      <p:sp>
        <p:nvSpPr>
          <p:cNvPr id="138" name="Google Shape;138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Примеры выполнения команд для разных прав:</a:t>
            </a:r>
            <a:br>
              <a:rPr lang="ru-RU" dirty="0"/>
            </a:br>
            <a:br>
              <a:rPr lang="ru-RU" dirty="0"/>
            </a:br>
            <a:endParaRPr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1A8656DC-BF50-0FE1-BDBD-1FA22DA8FF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920356"/>
              </p:ext>
            </p:extLst>
          </p:nvPr>
        </p:nvGraphicFramePr>
        <p:xfrm>
          <a:off x="838201" y="2561240"/>
          <a:ext cx="10515598" cy="31158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25686">
                  <a:extLst>
                    <a:ext uri="{9D8B030D-6E8A-4147-A177-3AD203B41FA5}">
                      <a16:colId xmlns:a16="http://schemas.microsoft.com/office/drawing/2014/main" val="3688284652"/>
                    </a:ext>
                  </a:extLst>
                </a:gridCol>
                <a:gridCol w="889992">
                  <a:extLst>
                    <a:ext uri="{9D8B030D-6E8A-4147-A177-3AD203B41FA5}">
                      <a16:colId xmlns:a16="http://schemas.microsoft.com/office/drawing/2014/main" val="1382639313"/>
                    </a:ext>
                  </a:extLst>
                </a:gridCol>
                <a:gridCol w="889992">
                  <a:extLst>
                    <a:ext uri="{9D8B030D-6E8A-4147-A177-3AD203B41FA5}">
                      <a16:colId xmlns:a16="http://schemas.microsoft.com/office/drawing/2014/main" val="2078961655"/>
                    </a:ext>
                  </a:extLst>
                </a:gridCol>
                <a:gridCol w="889992">
                  <a:extLst>
                    <a:ext uri="{9D8B030D-6E8A-4147-A177-3AD203B41FA5}">
                      <a16:colId xmlns:a16="http://schemas.microsoft.com/office/drawing/2014/main" val="3804863344"/>
                    </a:ext>
                  </a:extLst>
                </a:gridCol>
                <a:gridCol w="889992">
                  <a:extLst>
                    <a:ext uri="{9D8B030D-6E8A-4147-A177-3AD203B41FA5}">
                      <a16:colId xmlns:a16="http://schemas.microsoft.com/office/drawing/2014/main" val="2424877253"/>
                    </a:ext>
                  </a:extLst>
                </a:gridCol>
                <a:gridCol w="889992">
                  <a:extLst>
                    <a:ext uri="{9D8B030D-6E8A-4147-A177-3AD203B41FA5}">
                      <a16:colId xmlns:a16="http://schemas.microsoft.com/office/drawing/2014/main" val="2947670691"/>
                    </a:ext>
                  </a:extLst>
                </a:gridCol>
                <a:gridCol w="889992">
                  <a:extLst>
                    <a:ext uri="{9D8B030D-6E8A-4147-A177-3AD203B41FA5}">
                      <a16:colId xmlns:a16="http://schemas.microsoft.com/office/drawing/2014/main" val="4176253473"/>
                    </a:ext>
                  </a:extLst>
                </a:gridCol>
                <a:gridCol w="889992">
                  <a:extLst>
                    <a:ext uri="{9D8B030D-6E8A-4147-A177-3AD203B41FA5}">
                      <a16:colId xmlns:a16="http://schemas.microsoft.com/office/drawing/2014/main" val="749497786"/>
                    </a:ext>
                  </a:extLst>
                </a:gridCol>
                <a:gridCol w="889992">
                  <a:extLst>
                    <a:ext uri="{9D8B030D-6E8A-4147-A177-3AD203B41FA5}">
                      <a16:colId xmlns:a16="http://schemas.microsoft.com/office/drawing/2014/main" val="2242575316"/>
                    </a:ext>
                  </a:extLst>
                </a:gridCol>
                <a:gridCol w="889992">
                  <a:extLst>
                    <a:ext uri="{9D8B030D-6E8A-4147-A177-3AD203B41FA5}">
                      <a16:colId xmlns:a16="http://schemas.microsoft.com/office/drawing/2014/main" val="3671377051"/>
                    </a:ext>
                  </a:extLst>
                </a:gridCol>
                <a:gridCol w="889992">
                  <a:extLst>
                    <a:ext uri="{9D8B030D-6E8A-4147-A177-3AD203B41FA5}">
                      <a16:colId xmlns:a16="http://schemas.microsoft.com/office/drawing/2014/main" val="3015611915"/>
                    </a:ext>
                  </a:extLst>
                </a:gridCol>
                <a:gridCol w="889992">
                  <a:extLst>
                    <a:ext uri="{9D8B030D-6E8A-4147-A177-3AD203B41FA5}">
                      <a16:colId xmlns:a16="http://schemas.microsoft.com/office/drawing/2014/main" val="25395511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Права </a:t>
                      </a:r>
                      <a:r>
                        <a:rPr lang="en-US" b="0">
                          <a:effectLst/>
                        </a:rPr>
                        <a:t>dir1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Права </a:t>
                      </a:r>
                      <a:r>
                        <a:rPr lang="en-US" b="0">
                          <a:effectLst/>
                        </a:rPr>
                        <a:t>file1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Создание файла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Удаление файла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Запись в файл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Чтение файла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Смена директории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Просмотр файлов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Переименование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Смена атрибутов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Создание поддир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Удаление поддир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222768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000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000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-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-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-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-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-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-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-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-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-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-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663641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010 (--x---)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000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-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-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-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-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+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-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-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+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-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-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868823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070 (---rwx---)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070 (---rwx---)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+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+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+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+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+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+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+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+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+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</a:rPr>
                        <a:t>+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3986414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0F222322-9224-BEA9-5F7F-739AA4E5A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>
            <a:extLst>
              <a:ext uri="{FF2B5EF4-FFF2-40B4-BE49-F238E27FC236}">
                <a16:creationId xmlns:a16="http://schemas.microsoft.com/office/drawing/2014/main" id="{AA22CA2E-BD1A-D45C-CF6A-2578C2B7BC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Заполнение таблицы 3.2</a:t>
            </a:r>
          </a:p>
        </p:txBody>
      </p:sp>
      <p:sp>
        <p:nvSpPr>
          <p:cNvPr id="138" name="Google Shape;138;p21">
            <a:extLst>
              <a:ext uri="{FF2B5EF4-FFF2-40B4-BE49-F238E27FC236}">
                <a16:creationId xmlns:a16="http://schemas.microsoft.com/office/drawing/2014/main" id="{21C0CC95-6E90-AC3C-2FAE-C6A7BEDADB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spcBef>
                <a:spcPts val="0"/>
              </a:spcBef>
              <a:buSzPts val="2800"/>
            </a:pPr>
            <a:r>
              <a:rPr lang="ru-RU" dirty="0"/>
              <a:t>Минимальные права для совершения операций от имени пользователей, входящих в группу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br>
              <a:rPr lang="ru-RU" dirty="0"/>
            </a:br>
            <a:br>
              <a:rPr lang="ru-RU" dirty="0"/>
            </a:b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383A07A-5B6D-F478-A68B-72D21E4EF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62001"/>
            <a:ext cx="9345329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62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Заключение</a:t>
            </a:r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ru-RU" dirty="0"/>
              <a:t>В ходе выполнения лабораторной работы № 3 были получены практические навыки работы с атрибутами файлов для групп пользователей в ОС Linux.</a:t>
            </a:r>
          </a:p>
          <a:p>
            <a:r>
              <a:rPr lang="ru-RU" dirty="0"/>
              <a:t>Полученные навыки являются важной основой для понимания принципов безопасности в многопользовательских операционных системах и настройки прав доступа в реальных системах.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337</Words>
  <Application>Microsoft Office PowerPoint</Application>
  <PresentationFormat>Широкоэкранный</PresentationFormat>
  <Paragraphs>78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quote-cjk-patch</vt:lpstr>
      <vt:lpstr>Тема Office</vt:lpstr>
      <vt:lpstr>Дискреционное разграничение прав в Linux.</vt:lpstr>
      <vt:lpstr>Цель работы</vt:lpstr>
      <vt:lpstr>Техническое обеспечение</vt:lpstr>
      <vt:lpstr>Создание пользователей и настройка групп</vt:lpstr>
      <vt:lpstr>Вход в систему и определение информации о пользователях</vt:lpstr>
      <vt:lpstr>Просмотр файла /etc/group и регистрация в группе</vt:lpstr>
      <vt:lpstr>Создание директории dir1 и файла file1</vt:lpstr>
      <vt:lpstr>Заполнение таблицы 3.1</vt:lpstr>
      <vt:lpstr>Заполнение таблицы 3.2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Данил Смольняков</cp:lastModifiedBy>
  <cp:revision>9</cp:revision>
  <dcterms:modified xsi:type="dcterms:W3CDTF">2026-03-21T07:44:38Z</dcterms:modified>
</cp:coreProperties>
</file>