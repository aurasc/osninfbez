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987552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ED6FF"/>
                </a:solidFill>
                <a:latin typeface="Aptos"/>
              </a:defRPr>
            </a:pPr>
            <a:r>
              <a:t>ОСНОВЫ ИНФОРМАЦИОННОЙ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241280" cy="1463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4600" b="1">
                <a:solidFill>
                  <a:srgbClr val="F5F8FF"/>
                </a:solidFill>
                <a:latin typeface="Aptos"/>
              </a:defRPr>
            </a:pPr>
            <a:r>
              <a:t>Эскалация привилегий</a:t>
            </a:r>
          </a:p>
          <a:p>
            <a:pPr>
              <a:spcAft>
                <a:spcPts val="500"/>
              </a:spcAft>
              <a:defRPr sz="4600" b="1">
                <a:solidFill>
                  <a:srgbClr val="F5F8FF"/>
                </a:solidFill>
                <a:latin typeface="Aptos"/>
              </a:defRPr>
            </a:pPr>
            <a:r>
              <a:t>Shatter Attack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4754880" cy="12801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B2BED2"/>
                </a:solidFill>
                <a:latin typeface="Aptos"/>
              </a:defRPr>
            </a:pPr>
            <a:r>
              <a:t>Автор: [Твоё имя]</a:t>
            </a:r>
          </a:p>
          <a:p>
            <a:pPr>
              <a:spcAft>
                <a:spcPts val="500"/>
              </a:spcAft>
              <a:defRPr sz="2000" b="0">
                <a:solidFill>
                  <a:srgbClr val="B2BED2"/>
                </a:solidFill>
                <a:latin typeface="Aptos"/>
              </a:defRPr>
            </a:pPr>
            <a:r>
              <a:t>Группа: [Твоя группа]</a:t>
            </a:r>
          </a:p>
          <a:p>
            <a:pPr>
              <a:spcAft>
                <a:spcPts val="500"/>
              </a:spcAft>
              <a:defRPr sz="2000" b="0">
                <a:solidFill>
                  <a:srgbClr val="B2BED2"/>
                </a:solidFill>
                <a:latin typeface="Aptos"/>
              </a:defRPr>
            </a:pPr>
            <a:r>
              <a:t>Дата: [Дата]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514600"/>
            <a:ext cx="4754880" cy="347472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415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0" y="2770632"/>
            <a:ext cx="4297680" cy="457200"/>
          </a:xfrm>
          <a:prstGeom prst="roundRect">
            <a:avLst/>
          </a:prstGeom>
          <a:solidFill>
            <a:srgbClr val="E23F48"/>
          </a:solidFill>
          <a:ln w="12700">
            <a:solidFill>
              <a:srgbClr val="E23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SYSTEM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474720"/>
            <a:ext cx="384048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Privilege boundary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114800"/>
            <a:ext cx="3657600" cy="8686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3ED6FF"/>
                </a:solidFill>
                <a:latin typeface="Aptos"/>
              </a:defRPr>
            </a:pPr>
            <a:r>
              <a:t>low → high</a:t>
            </a:r>
          </a:p>
          <a:p>
            <a:pPr algn="ctr">
              <a:spcAft>
                <a:spcPts val="500"/>
              </a:spcAft>
              <a:defRPr sz="2400" b="1">
                <a:solidFill>
                  <a:srgbClr val="3ED6FF"/>
                </a:solidFill>
                <a:latin typeface="Aptos"/>
              </a:defRPr>
            </a:pPr>
            <a:r>
              <a:t>message injection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5303519"/>
            <a:ext cx="2103120" cy="438912"/>
          </a:xfrm>
          <a:prstGeom prst="roundRect">
            <a:avLst/>
          </a:prstGeom>
          <a:solidFill>
            <a:srgbClr val="FFBB49"/>
          </a:solidFill>
          <a:ln w="12700">
            <a:solidFill>
              <a:srgbClr val="FFB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800" b="1">
                <a:solidFill>
                  <a:srgbClr val="0C1220"/>
                </a:solidFill>
                <a:latin typeface="Aptos"/>
              </a:rPr>
              <a:t>ACCESS?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2BED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Что такое эскалация привилегий?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4864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F2937"/>
                </a:solidFill>
                <a:latin typeface="Aptos"/>
              </a:defRPr>
            </a:pPr>
            <a:r>
              <a:rPr dirty="0" err="1"/>
              <a:t>Эскалация</a:t>
            </a:r>
            <a:r>
              <a:rPr dirty="0"/>
              <a:t> </a:t>
            </a:r>
            <a:r>
              <a:rPr dirty="0" err="1"/>
              <a:t>привилегий</a:t>
            </a:r>
            <a:r>
              <a:rPr dirty="0"/>
              <a:t> —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злоумышленником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, </a:t>
            </a:r>
            <a:r>
              <a:rPr dirty="0" err="1"/>
              <a:t>превышающих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текущие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837" y="269748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7157" y="2926080"/>
            <a:ext cx="4800600" cy="7772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F2937"/>
                </a:solidFill>
                <a:latin typeface="Aptos"/>
              </a:defRPr>
            </a:pPr>
            <a:r>
              <a:t>Vertical (вертикальная) — от обычного пользователя к администратору или root.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837" y="416052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7157" y="4389120"/>
            <a:ext cx="4800600" cy="7772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F2937"/>
                </a:solidFill>
                <a:latin typeface="Aptos"/>
              </a:defRPr>
            </a:pPr>
            <a:r>
              <a:t>Horizontal (горизонтальная) — доступ к другому пользователю того же уровня.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160520"/>
            <a:ext cx="2011680" cy="5943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200" b="1">
                <a:solidFill>
                  <a:srgbClr val="F5F8FF"/>
                </a:solidFill>
                <a:latin typeface="Aptos"/>
              </a:rP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423160"/>
            <a:ext cx="2011680" cy="594360"/>
          </a:xfrm>
          <a:prstGeom prst="roundRect">
            <a:avLst/>
          </a:prstGeom>
          <a:solidFill>
            <a:srgbClr val="2081E2"/>
          </a:solidFill>
          <a:ln w="12700">
            <a:solidFill>
              <a:srgbClr val="2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200" b="1">
                <a:solidFill>
                  <a:srgbClr val="F5F8FF"/>
                </a:solidFill>
                <a:latin typeface="Aptos"/>
              </a:rPr>
              <a:t>Admin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321040" y="3063240"/>
            <a:ext cx="0" cy="1051560"/>
          </a:xfrm>
          <a:prstGeom prst="line">
            <a:avLst/>
          </a:prstGeom>
          <a:ln w="50800">
            <a:solidFill>
              <a:srgbClr val="208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55480" y="3154680"/>
            <a:ext cx="192024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81E2"/>
                </a:solidFill>
                <a:latin typeface="Aptos"/>
              </a:defRPr>
            </a:pPr>
            <a:r>
              <a:t>повышение</a:t>
            </a:r>
          </a:p>
          <a:p>
            <a:pPr>
              <a:spcAft>
                <a:spcPts val="500"/>
              </a:spcAft>
              <a:defRPr sz="2000" b="1">
                <a:solidFill>
                  <a:srgbClr val="2081E2"/>
                </a:solidFill>
                <a:latin typeface="Aptos"/>
              </a:defRPr>
            </a:pPr>
            <a:r>
              <a:t>прав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F2937"/>
                </a:solidFill>
                <a:latin typeface="Aptos"/>
              </a:rPr>
              <a:t>Shatter Attack — </a:t>
            </a:r>
            <a:r>
              <a:rPr sz="3200" b="1" dirty="0" err="1">
                <a:solidFill>
                  <a:srgbClr val="1F2937"/>
                </a:solidFill>
                <a:latin typeface="Aptos"/>
              </a:rPr>
              <a:t>что</a:t>
            </a:r>
            <a:r>
              <a:rPr sz="32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1F2937"/>
                </a:solidFill>
                <a:latin typeface="Aptos"/>
              </a:rPr>
              <a:t>это</a:t>
            </a:r>
            <a:r>
              <a:rPr sz="3200" b="1" dirty="0">
                <a:solidFill>
                  <a:srgbClr val="1F2937"/>
                </a:solidFill>
                <a:latin typeface="Aptos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40080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Атака на операционные системы семейства Windows.</a:t>
            </a:r>
          </a:p>
          <a:p>
            <a:pPr>
              <a:spcAft>
                <a:spcPts val="9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Впервые описана в 2002 году Крисом Пагетом (Chris Paget).</a:t>
            </a:r>
          </a:p>
          <a:p>
            <a:pPr>
              <a:spcAft>
                <a:spcPts val="9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Процесс с низкими привилегиями отправляет команды окну процесса с высокими привилегиями.</a:t>
            </a:r>
          </a:p>
          <a:p>
            <a:pPr>
              <a:spcAft>
                <a:spcPts val="9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Использует механизм обмена сообщениями Windows — Windows Messaging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2560320" cy="6858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000" b="1">
                <a:solidFill>
                  <a:srgbClr val="F5F8FF"/>
                </a:solidFill>
                <a:latin typeface="Aptos"/>
              </a:rPr>
              <a:t>Low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023360"/>
            <a:ext cx="2560320" cy="685800"/>
          </a:xfrm>
          <a:prstGeom prst="roundRect">
            <a:avLst/>
          </a:prstGeom>
          <a:solidFill>
            <a:srgbClr val="E23F48"/>
          </a:solidFill>
          <a:ln w="12700">
            <a:solidFill>
              <a:srgbClr val="E23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2000" b="1">
                <a:solidFill>
                  <a:srgbClr val="F5F8FF"/>
                </a:solidFill>
                <a:latin typeface="Aptos"/>
              </a:rPr>
              <a:t>High 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0" y="2377440"/>
            <a:ext cx="0" cy="1508760"/>
          </a:xfrm>
          <a:prstGeom prst="line">
            <a:avLst/>
          </a:prstGeom>
          <a:ln w="44450">
            <a:solidFill>
              <a:srgbClr val="FFB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81160" y="2880360"/>
            <a:ext cx="210312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F2937"/>
                </a:solidFill>
                <a:latin typeface="Aptos"/>
              </a:defRPr>
            </a:pPr>
            <a:r>
              <a:t>Windows</a:t>
            </a:r>
          </a:p>
          <a:p>
            <a:pPr>
              <a:spcAft>
                <a:spcPts val="500"/>
              </a:spcAft>
              <a:defRPr sz="1800" b="1">
                <a:solidFill>
                  <a:srgbClr val="1F2937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Как работает Windows Messaging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48640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В Windows GUI работает на основе очереди сообщений — message queue.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Окна общаются через сообщения: WM_COMMAND, WM_TIMER, WM_USER и др.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Сообщение содержит HWND, ID сообщения и два параметра: wParam, lParam.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25880"/>
            <a:ext cx="3840480" cy="685800"/>
          </a:xfrm>
          <a:prstGeom prst="roundRect">
            <a:avLst/>
          </a:prstGeom>
          <a:solidFill>
            <a:srgbClr val="2081E2"/>
          </a:solidFill>
          <a:ln w="12700">
            <a:solidFill>
              <a:srgbClr val="2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Окно приложения
процесс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160520"/>
            <a:ext cx="3840480" cy="685800"/>
          </a:xfrm>
          <a:prstGeom prst="roundRect">
            <a:avLst/>
          </a:prstGeom>
          <a:solidFill>
            <a:srgbClr val="4BCC8B"/>
          </a:solidFill>
          <a:ln w="12700"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800" b="1">
                <a:solidFill>
                  <a:srgbClr val="0C1220"/>
                </a:solidFill>
                <a:latin typeface="Aptos"/>
              </a:rPr>
              <a:t>Окно приложения
процесс 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03920" y="2057400"/>
            <a:ext cx="0" cy="1947672"/>
          </a:xfrm>
          <a:prstGeom prst="line">
            <a:avLst/>
          </a:prstGeom>
          <a:ln w="44450">
            <a:solidFill>
              <a:srgbClr val="208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2788920"/>
            <a:ext cx="2194560" cy="502920"/>
          </a:xfrm>
          <a:prstGeom prst="roundRect">
            <a:avLst/>
          </a:prstGeom>
          <a:solidFill>
            <a:srgbClr val="FFBB49"/>
          </a:solidFill>
          <a:ln w="12700">
            <a:solidFill>
              <a:srgbClr val="FFB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600" b="1">
                <a:solidFill>
                  <a:srgbClr val="0C1220"/>
                </a:solidFill>
                <a:latin typeface="Aptos"/>
              </a:rPr>
              <a:t>SendMessage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257800"/>
            <a:ext cx="4297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5422392"/>
            <a:ext cx="38404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F2937"/>
                </a:solidFill>
                <a:latin typeface="Aptos"/>
              </a:defRPr>
            </a:pPr>
            <a:r>
              <a:t>HWND + Message ID + wParam + lParam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Почему Shatter Attack возможен?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71500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В Windows XP/2000 и старше сообщения не проверялись на источник.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Любой процесс мог отправить сообщение любому окну.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Привилегированный процесс мог выполнить команды из сообщения.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Низкопривилегированный процесс подставлял вредоносные параметры.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709160"/>
            <a:ext cx="54864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512064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3ED6FF"/>
                </a:solidFill>
                <a:latin typeface="Aptos"/>
              </a:defRPr>
            </a:pPr>
            <a:r>
              <a:rPr dirty="0" err="1"/>
              <a:t>SendMessage</a:t>
            </a:r>
            <a:r>
              <a:rPr dirty="0"/>
              <a:t>(</a:t>
            </a:r>
            <a:r>
              <a:rPr dirty="0" err="1"/>
              <a:t>hwnd</a:t>
            </a:r>
            <a:r>
              <a:rPr dirty="0"/>
              <a:t>, WM_COMMAND, ID_EXECUTE, (LPARAM)"cmd.exe")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20240"/>
            <a:ext cx="2377440" cy="6858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User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3794760"/>
            <a:ext cx="2377440" cy="685800"/>
          </a:xfrm>
          <a:prstGeom prst="roundRect">
            <a:avLst/>
          </a:prstGeom>
          <a:solidFill>
            <a:srgbClr val="E23F48"/>
          </a:solidFill>
          <a:ln w="12700">
            <a:solidFill>
              <a:srgbClr val="E23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800" b="1">
                <a:solidFill>
                  <a:srgbClr val="F5F8FF"/>
                </a:solidFill>
                <a:latin typeface="Aptos"/>
              </a:rPr>
              <a:t>System Process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75320" y="2697480"/>
            <a:ext cx="0" cy="960120"/>
          </a:xfrm>
          <a:prstGeom prst="line">
            <a:avLst/>
          </a:prstGeom>
          <a:ln w="44450">
            <a:solidFill>
              <a:srgbClr val="FFB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46920" y="2880360"/>
            <a:ext cx="173736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E23F48"/>
                </a:solidFill>
                <a:latin typeface="Aptos"/>
              </a:defRPr>
            </a:pPr>
            <a:r>
              <a:t>без проверки</a:t>
            </a:r>
          </a:p>
          <a:p>
            <a:pPr>
              <a:spcAft>
                <a:spcPts val="500"/>
              </a:spcAft>
              <a:defRPr sz="1800" b="1">
                <a:solidFill>
                  <a:srgbClr val="E23F48"/>
                </a:solidFill>
                <a:latin typeface="Aptos"/>
              </a:defRPr>
            </a:pPr>
            <a:r>
              <a:t>источника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Пример: запуск командной строки от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21208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Найти окно процесса с высокими привилегиями, например окно службы.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Отправить сообщение WM_COMMAND с параметрами на выполнение команды.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Системный процесс выполняет cmd.exe с правами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12064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5544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ED6FF"/>
                </a:solidFill>
                <a:latin typeface="Consolas"/>
              </a:rPr>
              <a:t>HWND hwnd = FindWindow(NULL,
    "Window of privileged app");
SendMessage(hwnd, WM_COMMAND,
    ID_EXECUTE,
    (LPARAM)"cmd.exe");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72000"/>
            <a:ext cx="9966960" cy="9601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3248" y="4865106"/>
            <a:ext cx="941832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4BCC8B"/>
                </a:solidFill>
                <a:latin typeface="Aptos"/>
              </a:defRPr>
            </a:pPr>
            <a:r>
              <a:rPr dirty="0"/>
              <a:t>C:\Windows\System32&gt; </a:t>
            </a:r>
            <a:r>
              <a:rPr dirty="0" err="1"/>
              <a:t>whoami</a:t>
            </a:r>
            <a:r>
              <a:rPr dirty="0"/>
              <a:t>     </a:t>
            </a:r>
            <a:r>
              <a:rPr dirty="0" err="1"/>
              <a:t>nt</a:t>
            </a:r>
            <a:r>
              <a:rPr dirty="0"/>
              <a:t> authority\system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Что может сделать злоумышленник?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55064"/>
            <a:ext cx="29718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F2937"/>
                </a:solidFill>
                <a:latin typeface="Aptos"/>
              </a:defRPr>
            </a:pPr>
            <a:r>
              <a:t>Запустить вредоносный код с правами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18104"/>
            <a:ext cx="29718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F2937"/>
                </a:solidFill>
                <a:latin typeface="Aptos"/>
              </a:defRPr>
            </a:pPr>
            <a:r>
              <a:t>Отключить антивирус и системы защиты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55064"/>
            <a:ext cx="29718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F2937"/>
                </a:solidFill>
                <a:latin typeface="Aptos"/>
              </a:defRPr>
            </a:pPr>
            <a:r>
              <a:t>Создать нового администратора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88036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118104"/>
            <a:ext cx="29718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F2937"/>
                </a:solidFill>
                <a:latin typeface="Aptos"/>
              </a:defRPr>
            </a:pPr>
            <a:r>
              <a:t>Установить бэкдор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343400"/>
            <a:ext cx="3337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4581144"/>
            <a:ext cx="29718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F2937"/>
                </a:solidFill>
                <a:latin typeface="Aptos"/>
              </a:defRPr>
            </a:pPr>
            <a:r>
              <a:t>Похитить пароли из LSASS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9189720" y="1920240"/>
            <a:ext cx="1371600" cy="1234440"/>
          </a:xfrm>
          <a:prstGeom prst="triangle">
            <a:avLst/>
          </a:prstGeom>
          <a:solidFill>
            <a:srgbClr val="E23F48"/>
          </a:solidFill>
          <a:ln>
            <a:solidFill>
              <a:srgbClr val="E23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64624" y="2221992"/>
            <a:ext cx="64008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520440"/>
            <a:ext cx="265176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E23F48"/>
                </a:solidFill>
                <a:latin typeface="Aptos"/>
              </a:defRPr>
            </a:pPr>
            <a:r>
              <a:t>Итог: полный контроль над системой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Защита от Shatter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85216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UIPI (User Interface Privilege Isolation) — начиная с Windows Vista.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Запуск приложений с разными уровнями привилегий в разных сессиях.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Проверка источника сообщения: IsWindow и проверка PID.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Микрофильтры сообщений.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325880"/>
            <a:ext cx="4709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0" y="1508760"/>
            <a:ext cx="2057400" cy="502920"/>
          </a:xfrm>
          <a:prstGeom prst="roundRect">
            <a:avLst/>
          </a:prstGeom>
          <a:solidFill>
            <a:srgbClr val="2081E2"/>
          </a:solidFill>
          <a:ln w="12700">
            <a:solidFill>
              <a:srgbClr val="2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Windows версия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08760"/>
            <a:ext cx="2148840" cy="502920"/>
          </a:xfrm>
          <a:prstGeom prst="roundRect">
            <a:avLst/>
          </a:prstGeom>
          <a:solidFill>
            <a:srgbClr val="2081E2"/>
          </a:solidFill>
          <a:ln w="12700">
            <a:solidFill>
              <a:srgbClr val="2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Защита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194560"/>
            <a:ext cx="192024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F2937"/>
                </a:solidFill>
                <a:latin typeface="Aptos"/>
              </a:defRPr>
            </a:pPr>
            <a:r>
              <a:t>Windows XP/2000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94560"/>
            <a:ext cx="192024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Отсутствует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2633472"/>
            <a:ext cx="4343400" cy="9144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2816352"/>
            <a:ext cx="192024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F2937"/>
                </a:solidFill>
                <a:latin typeface="Aptos"/>
              </a:defRPr>
            </a:pPr>
            <a:r>
              <a:t>Windows Vista+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816352"/>
            <a:ext cx="192024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UIPI включена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255264"/>
            <a:ext cx="4343400" cy="9144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3438144"/>
            <a:ext cx="192024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F2937"/>
                </a:solidFill>
                <a:latin typeface="Aptos"/>
              </a:defRPr>
            </a:pPr>
            <a:r>
              <a:t>Windows 10/11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38144"/>
            <a:ext cx="192024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F2937"/>
                </a:solidFill>
                <a:latin typeface="Aptos"/>
              </a:defRPr>
            </a:pPr>
            <a:r>
              <a:t>Полная защита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3877056"/>
            <a:ext cx="4343400" cy="9144"/>
          </a:xfrm>
          <a:prstGeom prst="rect">
            <a:avLst/>
          </a:prstGeom>
          <a:solidFill>
            <a:srgbClr val="D7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43800" y="4892040"/>
            <a:ext cx="3108960" cy="685800"/>
          </a:xfrm>
          <a:prstGeom prst="roundRect">
            <a:avLst/>
          </a:prstGeom>
          <a:solidFill>
            <a:srgbClr val="4BCC8B"/>
          </a:solidFill>
          <a:ln w="12700"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600" b="1">
                <a:solidFill>
                  <a:srgbClr val="0C1220"/>
                </a:solidFill>
                <a:latin typeface="Aptos"/>
              </a:rPr>
              <a:t>UIPI блокирует низкий → высокий 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Aptos"/>
              </a:rPr>
              <a:t>Актуально ли сейчас?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57784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t>В современных Windows (Vista/7/8/10/11) атака невозможна в классическом виде из-за UIPI.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8860"/>
            <a:ext cx="53949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dirty="0"/>
              <a:t>• UIPI </a:t>
            </a:r>
            <a:r>
              <a:rPr dirty="0" err="1"/>
              <a:t>блокирует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с </a:t>
            </a:r>
            <a:r>
              <a:rPr dirty="0" err="1"/>
              <a:t>низким</a:t>
            </a:r>
            <a:r>
              <a:rPr dirty="0"/>
              <a:t> </a:t>
            </a:r>
            <a:r>
              <a:rPr dirty="0" err="1"/>
              <a:t>уровнем</a:t>
            </a:r>
            <a:r>
              <a:rPr dirty="0"/>
              <a:t> к </a:t>
            </a:r>
            <a:r>
              <a:rPr dirty="0" err="1"/>
              <a:t>высокому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Атака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</a:t>
            </a:r>
            <a:r>
              <a:rPr dirty="0" err="1"/>
              <a:t>актуальной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XP/2000.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Windows Embedded и </a:t>
            </a:r>
            <a:r>
              <a:rPr dirty="0" err="1"/>
              <a:t>изучения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dirty="0"/>
              <a:t> </a:t>
            </a:r>
            <a:r>
              <a:rPr dirty="0" err="1"/>
              <a:t>кибербезопасности</a:t>
            </a:r>
            <a:r>
              <a:rPr dirty="0"/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rgbClr val="E23F48"/>
          </a:solidFill>
          <a:ln>
            <a:solidFill>
              <a:srgbClr val="E23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3566160"/>
            <a:ext cx="7315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F2937"/>
                </a:solidFill>
                <a:latin typeface="Aptos"/>
              </a:defRPr>
            </a:pPr>
            <a:r>
              <a:t>XP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3182112"/>
            <a:ext cx="548640" cy="0"/>
          </a:xfrm>
          <a:prstGeom prst="line">
            <a:avLst/>
          </a:prstGeom>
          <a:ln w="25400">
            <a:solidFill>
              <a:srgbClr val="208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52360" y="2926080"/>
            <a:ext cx="502920" cy="502920"/>
          </a:xfrm>
          <a:prstGeom prst="ellipse">
            <a:avLst/>
          </a:prstGeom>
          <a:solidFill>
            <a:srgbClr val="4BCC8B"/>
          </a:solidFill>
          <a:ln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3566160"/>
            <a:ext cx="7315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F2937"/>
                </a:solidFill>
                <a:latin typeface="Aptos"/>
              </a:defRPr>
            </a:pPr>
            <a:r>
              <a:t>Vista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80" y="3182112"/>
            <a:ext cx="502920" cy="0"/>
          </a:xfrm>
          <a:prstGeom prst="line">
            <a:avLst/>
          </a:prstGeom>
          <a:ln w="25400">
            <a:solidFill>
              <a:srgbClr val="208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458200" y="2926080"/>
            <a:ext cx="502920" cy="502920"/>
          </a:xfrm>
          <a:prstGeom prst="ellipse">
            <a:avLst/>
          </a:prstGeom>
          <a:solidFill>
            <a:srgbClr val="4BCC8B"/>
          </a:solidFill>
          <a:ln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3566160"/>
            <a:ext cx="7315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F2937"/>
                </a:solidFill>
                <a:latin typeface="Aptos"/>
              </a:defRPr>
            </a:pPr>
            <a:r>
              <a:t>7/8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3182112"/>
            <a:ext cx="502920" cy="0"/>
          </a:xfrm>
          <a:prstGeom prst="line">
            <a:avLst/>
          </a:prstGeom>
          <a:ln w="25400">
            <a:solidFill>
              <a:srgbClr val="208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4040" y="2926080"/>
            <a:ext cx="502920" cy="502920"/>
          </a:xfrm>
          <a:prstGeom prst="ellipse">
            <a:avLst/>
          </a:prstGeom>
          <a:solidFill>
            <a:srgbClr val="4BCC8B"/>
          </a:solidFill>
          <a:ln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3566160"/>
            <a:ext cx="7315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F2937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0" y="3182112"/>
            <a:ext cx="502920" cy="0"/>
          </a:xfrm>
          <a:prstGeom prst="line">
            <a:avLst/>
          </a:prstGeom>
          <a:ln w="25400">
            <a:solidFill>
              <a:srgbClr val="2081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469880" y="2926080"/>
            <a:ext cx="502920" cy="502920"/>
          </a:xfrm>
          <a:prstGeom prst="ellipse">
            <a:avLst/>
          </a:prstGeom>
          <a:solidFill>
            <a:srgbClr val="4BCC8B"/>
          </a:solidFill>
          <a:ln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78440" y="3566160"/>
            <a:ext cx="7315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F293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03120"/>
            <a:ext cx="429768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081E2"/>
                </a:solidFill>
                <a:latin typeface="Aptos"/>
              </a:defRPr>
            </a:pPr>
            <a:r>
              <a:t>таймлайн защиты Windows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434840"/>
            <a:ext cx="1097280" cy="438912"/>
          </a:xfrm>
          <a:prstGeom prst="roundRect">
            <a:avLst/>
          </a:prstGeom>
          <a:solidFill>
            <a:srgbClr val="E23F48"/>
          </a:solidFill>
          <a:ln w="12700">
            <a:solidFill>
              <a:srgbClr val="E23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нет UIPI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434840"/>
            <a:ext cx="2377440" cy="438912"/>
          </a:xfrm>
          <a:prstGeom prst="roundRect">
            <a:avLst/>
          </a:prstGeom>
          <a:solidFill>
            <a:srgbClr val="4BCC8B"/>
          </a:solidFill>
          <a:ln w="12700">
            <a:solidFill>
              <a:srgbClr val="4B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rgbClr val="0C1220"/>
                </a:solidFill>
                <a:latin typeface="Aptos"/>
              </a:rPr>
              <a:t>UIPI и изоляция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29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292840" y="73152"/>
            <a:ext cx="896112" cy="73152"/>
          </a:xfrm>
          <a:prstGeom prst="rect">
            <a:avLst/>
          </a:prstGeom>
          <a:solidFill>
            <a:srgbClr val="3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8FF"/>
                </a:solidFill>
                <a:latin typeface="Aptos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658368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F5F8FF"/>
                </a:solidFill>
                <a:latin typeface="Aptos"/>
              </a:defRPr>
            </a:pPr>
            <a:r>
              <a:t>• Shatter Attack — классический пример атаки через легитимные механизмы ОС.</a:t>
            </a:r>
          </a:p>
          <a:p>
            <a:pPr>
              <a:spcAft>
                <a:spcPts val="900"/>
              </a:spcAft>
              <a:defRPr sz="2400">
                <a:solidFill>
                  <a:srgbClr val="F5F8FF"/>
                </a:solidFill>
                <a:latin typeface="Aptos"/>
              </a:defRPr>
            </a:pPr>
            <a:r>
              <a:t>• Атака показала важность проверки источника сообщений.</a:t>
            </a:r>
          </a:p>
          <a:p>
            <a:pPr>
              <a:spcAft>
                <a:spcPts val="900"/>
              </a:spcAft>
              <a:defRPr sz="2400">
                <a:solidFill>
                  <a:srgbClr val="F5F8FF"/>
                </a:solidFill>
                <a:latin typeface="Aptos"/>
              </a:defRPr>
            </a:pPr>
            <a:r>
              <a:t>• Она привела к внедрению UIPI в Windows Vista.</a:t>
            </a:r>
          </a:p>
          <a:p>
            <a:pPr>
              <a:spcAft>
                <a:spcPts val="900"/>
              </a:spcAft>
              <a:defRPr sz="2400">
                <a:solidFill>
                  <a:srgbClr val="F5F8FF"/>
                </a:solidFill>
                <a:latin typeface="Aptos"/>
              </a:defRPr>
            </a:pPr>
            <a:r>
              <a:t>• Главный урок: даже доверенные API могут быть опасны.</a:t>
            </a:r>
          </a:p>
        </p:txBody>
      </p:sp>
      <p:sp>
        <p:nvSpPr>
          <p:cNvPr id="6" name="Pentagon 5"/>
          <p:cNvSpPr/>
          <p:nvPr/>
        </p:nvSpPr>
        <p:spPr>
          <a:xfrm>
            <a:off x="8321040" y="1600200"/>
            <a:ext cx="2468880" cy="3108960"/>
          </a:xfrm>
          <a:prstGeom prst="homePlate">
            <a:avLst/>
          </a:prstGeom>
          <a:solidFill>
            <a:srgbClr val="2081E2"/>
          </a:solidFill>
          <a:ln>
            <a:solidFill>
              <a:srgbClr val="3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2514600"/>
            <a:ext cx="137160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5400" b="1">
                <a:solidFill>
                  <a:srgbClr val="F5F8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074920"/>
            <a:ext cx="393192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3ED6FF"/>
                </a:solidFill>
                <a:latin typeface="Aptos"/>
              </a:defRPr>
            </a:pPr>
            <a:r>
              <a:t>Security boundary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2BE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593</Words>
  <Application>Microsoft Office PowerPoint</Application>
  <PresentationFormat>Широкоэкранный</PresentationFormat>
  <Paragraphs>104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Попеску</dc:creator>
  <cp:keywords/>
  <dc:description>generated using python-pptx</dc:description>
  <cp:lastModifiedBy>Елена Попеску</cp:lastModifiedBy>
  <cp:revision>2</cp:revision>
  <dcterms:created xsi:type="dcterms:W3CDTF">2013-01-27T09:14:16Z</dcterms:created>
  <dcterms:modified xsi:type="dcterms:W3CDTF">2026-05-15T20:08:35Z</dcterms:modified>
  <cp:category/>
</cp:coreProperties>
</file>